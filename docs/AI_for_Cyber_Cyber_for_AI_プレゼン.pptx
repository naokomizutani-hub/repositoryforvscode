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05156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35608" y="1188720"/>
            <a:ext cx="118872" cy="118872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088136"/>
            <a:ext cx="374903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新規サービス立ち上げ提案 ／ 承認依頼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10317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AI FOR CYBER, CYBER FOR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48840"/>
            <a:ext cx="949180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AIで守りを高度化し、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AIそのものを守る。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60520"/>
            <a:ext cx="80473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二重に立ち上がる市場機会に、両輪の統合サービスで先行者ポジションを取る。経営層への正式承認を依頼する事業企画。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5257800"/>
            <a:ext cx="9491801" cy="18288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4406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想定読者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経営層(意思決定者)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4406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目的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新規サービスの立ち上げ承認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4406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日付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2026年7月13日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44068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ステータス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Decision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6601968"/>
            <a:ext cx="1031717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01 ／ エグゼクティブサマリー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承認いただきたいのは、この3点。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AIはサイバー攻防の前提を変えた。攻撃はAIで高度化・量産化し、AIを業務に組み込むほどAI自体が新たな攻撃対象になる。両輪で応える体制を、いま立ち上げる。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514600"/>
            <a:ext cx="322569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514600"/>
            <a:ext cx="54864" cy="19202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2770632"/>
            <a:ext cx="2768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承認事項 01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正式オファリング化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「AI for Cyber, Cyber for AI」を正式サービスとして立ち上げる。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0178" y="2514600"/>
            <a:ext cx="322569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80178" y="2514600"/>
            <a:ext cx="54864" cy="19202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2786" y="2770632"/>
            <a:ext cx="2768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承認事項 02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人材への投資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Cyber×AI人材の育成・獲得。中核となるFDEチームを新設する。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5916" y="2514600"/>
            <a:ext cx="322569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514600"/>
            <a:ext cx="54864" cy="192024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8524" y="2770632"/>
            <a:ext cx="2768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承認事項 03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三位一体デリバリ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米国プラットフォーム・インドデリバリ・国内現場適合のモデルを採用する。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892040"/>
            <a:ext cx="41148" cy="5029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910327"/>
            <a:ext cx="74283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意思決定の遅れは、市場機会とタレント獲得機会の双方の逸失に直結する。好機は、いま、ここにある。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6601968"/>
            <a:ext cx="2063435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02 ／ 背景 — 市場動向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なぜ、いま、この投資なのか。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市場は「AIでサイバーを守る」需要と「AIそのものを守る」需要が同時に立ち上がる、稀な二重成長局面にある。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514600"/>
            <a:ext cx="2387269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514600"/>
            <a:ext cx="2387269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3896" y="2807208"/>
            <a:ext cx="1984933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01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攻撃の高度化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フィッシング精緻化、マルウェア自動生成、脆弱性探索の自動化。量と質が同時に跳ね上がる。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741" y="2514600"/>
            <a:ext cx="2387269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77741" y="2514600"/>
            <a:ext cx="2387269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7197" y="2807208"/>
            <a:ext cx="1984933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02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規制強化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EU AI Act等のAI規制、重要インフラ要求、データ主権。攻めと守りの同時充足が必要。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1043" y="2514600"/>
            <a:ext cx="2387269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21043" y="2514600"/>
            <a:ext cx="2387269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0499" y="2807208"/>
            <a:ext cx="1984933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03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フロンティアAIの興隆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防御の生産性を上げる一方、攻撃側にも同等の能力。攻防の非対称性が拡大する。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4345" y="2514600"/>
            <a:ext cx="2387269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64345" y="2514600"/>
            <a:ext cx="2387269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3801" y="2807208"/>
            <a:ext cx="1984933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04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アタックサーフェス拡大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LLM/AIエージェント導入で、プロンプト注入等の新たな攻撃面が生まれる。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93776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2つ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同時に立ち上がる需要領域(守る／守られる)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937760"/>
            <a:ext cx="4114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Security by Design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AI利活用に最初から組み込む設計思想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34440" y="6601968"/>
            <a:ext cx="3095152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03 ／ 課題設定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競合の空白地帯に、垂直立ち上げで入る。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単独領域の提供者は多いが、両輪を一体で束ねるプレイヤーは限られる。ここが当社の機会である。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468880"/>
            <a:ext cx="5364931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468880"/>
            <a:ext cx="5364931" cy="502920"/>
          </a:xfrm>
          <a:prstGeom prst="rect">
            <a:avLst/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1319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領域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3780" y="256946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競合の状況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5155" y="256946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当社の機会(空白)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3017520"/>
            <a:ext cx="5364931" cy="10972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1319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AI for Cyber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3780" y="307238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個別ソリューションは進む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5155" y="307238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戦略〜運用の一貫提供・経営訴求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3520439"/>
            <a:ext cx="5364931" cy="10972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575304"/>
            <a:ext cx="1319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Cyber for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3780" y="357530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助言・ポリシー策定が中心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5155" y="357530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技術的な実装レベルの統制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4023360"/>
            <a:ext cx="5364931" cy="10972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078224"/>
            <a:ext cx="1319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両輪の統合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3780" y="407822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いずれか単独が大半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5155" y="4078224"/>
            <a:ext cx="17484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一体提供 × 総合力で束ねる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5131" y="2468880"/>
            <a:ext cx="4586484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5131" y="2468880"/>
            <a:ext cx="4586484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9451" y="2724912"/>
            <a:ext cx="40835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WHY デロイト — どう実現するか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451" y="3035808"/>
            <a:ext cx="40835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単発のツール導入ではなく、経営アジェンダとして戦略・実装・運用を一気通貫で。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9451" y="3703320"/>
            <a:ext cx="408356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グローバル連携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米国基盤・各国知見を国内に導入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アライアンス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提携で自社開発に依存しない機動力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総合力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Strategy / Risk / AI&amp;Data 横断の提供力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34440" y="6601968"/>
            <a:ext cx="4126870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04a ／ アプローチ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AI for Cyber — 検知・対応・運用にAIを組み込む。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防御オペレーションをAIで再設計し、生産性とスピードで攻撃側に追随・凌駕する。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514600"/>
            <a:ext cx="4975707" cy="2057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514600"/>
            <a:ext cx="4975707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2788920"/>
            <a:ext cx="44270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組み込みの軸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227832"/>
            <a:ext cx="4427067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フロンティアAIを経営訴求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グループ横断で一貫メッセージを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アライアンス活用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提携ソリューションで立ち上げ速度を最大化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デリバリ変革(インド)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自動化×オフショアでSOCの経済構造を刷新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5907" y="2514600"/>
            <a:ext cx="4975707" cy="2057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5907" y="2514600"/>
            <a:ext cx="4975707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8515" y="2788920"/>
            <a:ext cx="44270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旗艦オファリング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8515" y="3227832"/>
            <a:ext cx="4427067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CTEM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AIエージェント活用の継続的脅威エクスポージャ管理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Remediation Factory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AI駆動テスト環境で脆弱性修正を工場化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Secure SDLC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開発ライフサイクルへのセキュリティ内在化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34440" y="4937760"/>
            <a:ext cx="41148" cy="5029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956048"/>
            <a:ext cx="74283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従来型SOCの経済構造を、AI × デリバリモデル変革で刷新する。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34440" y="6601968"/>
            <a:ext cx="5158587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04b ／ アプローチ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Cyber for AI — AI活用に、最初から統制を組み込む。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「攻めのAI活用」を止めずに「守り」を成立させる。AI&amp;Data部門と連携し、利活用ニーズにセキュリティをセットで訴求する。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514600"/>
            <a:ext cx="4975707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514600"/>
            <a:ext cx="4975707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2788920"/>
            <a:ext cx="44270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注力テーマ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227832"/>
            <a:ext cx="4427067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AI CoEへの組み込み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設計段階からセキュリティを内在化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AI Ready基盤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非構造データ含む基盤へプライバシー/セキュリティを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AI固有脅威対応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ガバナンスにプロンプト注入・データ汚染対策を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▪ </a:t>
            </a:r>
            <a:r>
              <a:rPr sz="12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戦略支援</a:t>
            </a: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 — セキュリティ部門のロードマップ策定を支援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5907" y="2514600"/>
            <a:ext cx="4975707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5907" y="2514600"/>
            <a:ext cx="4975707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8515" y="2788920"/>
            <a:ext cx="44270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両輪のシナジー — なぜ一体提供か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68515" y="3291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8515" y="32918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AI for Cyber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3307" y="3291840"/>
            <a:ext cx="457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0507" y="3291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0507" y="329184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C8C"/>
                </a:solidFill>
                <a:latin typeface="Yu Gothic"/>
                <a:ea typeface="Yu Gothic"/>
                <a:cs typeface="Yu Gothic"/>
              </a:rPr>
              <a:t>Cyber for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8515" y="3840480"/>
            <a:ext cx="44270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防御知見がガバナンス設計を強くし、顧客接点が防御サービスの需要を生む。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単独提供では得られないこの循環が、参入障壁となる。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34440" y="6601968"/>
            <a:ext cx="6190305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05 ／ 実行計画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短期で基盤を、中期でスケールを。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フェーズを分け、立ち上げ速度・再現性・コストを段階的に確立する。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514600"/>
            <a:ext cx="10317175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788920"/>
            <a:ext cx="2167813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0–3ヶ月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Phase 1 / 基盤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FDEチーム組成、アライアンス締結、旗艦オファリングの型化。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3733" y="2697480"/>
            <a:ext cx="13716" cy="1325880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765" y="2788920"/>
            <a:ext cx="2167813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3–6ヶ月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Phase 1 / 実証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ライトハウス顧客での初期案件、デリバリモデル試験稼働。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93027" y="2697480"/>
            <a:ext cx="13716" cy="1325880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9059" y="2788920"/>
            <a:ext cx="2167813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6–12ヶ月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Phase 2 / 拡大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インド・米国連携の本格化、育成プログラム運用、実績発信。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2321" y="2697480"/>
            <a:ext cx="13716" cy="1325880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8353" y="2788920"/>
            <a:ext cx="2167813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6BC25"/>
                </a:solidFill>
                <a:latin typeface="Yu Gothic"/>
                <a:ea typeface="Yu Gothic"/>
                <a:cs typeface="Yu Gothic"/>
              </a:rPr>
              <a:t>12–18ヶ月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Phase 2 / 定着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両輪の相互送客定着、スケール、次期投資判断。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526280"/>
            <a:ext cx="322569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4745736"/>
            <a:ext cx="27684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最重要リソース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人材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育成プログラム × 外部獲得。FDEチームの新設。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80178" y="4526280"/>
            <a:ext cx="322569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6210" y="4745736"/>
            <a:ext cx="27684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外部連携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アライアンス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フロンティアAI・セキュリティ製品ベンダー提携。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5916" y="4526280"/>
            <a:ext cx="3225698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1948" y="4745736"/>
            <a:ext cx="27684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投資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A2B8"/>
                </a:solidFill>
                <a:latin typeface="Yu Gothic"/>
                <a:ea typeface="Yu Gothic"/>
                <a:cs typeface="Yu Gothic"/>
              </a:rPr>
              <a:t>初期投資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人材・育成・アライアンス費用(詳細は承認後に確定)。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34440" y="6601968"/>
            <a:ext cx="7222022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06 ／ 推進体制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「作る・量産する・合わせ込む」の分業。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立ち上げ速度・コスト・顧客適合を同時に満たす三位一体のデリバリモデル。中核はFDEチーム。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468880"/>
            <a:ext cx="3225698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468880"/>
            <a:ext cx="3225698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2743200"/>
            <a:ext cx="27684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米国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作る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プロダクト/プラットフォームを提供。車輪の再発明を避ける。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0178" y="2468880"/>
            <a:ext cx="3225698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80178" y="2468880"/>
            <a:ext cx="3225698" cy="54864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6210" y="2743200"/>
            <a:ext cx="27684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インド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量産する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プラットフォーム活用のデリバリ・実装・運用。コストとスケール。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5916" y="2468880"/>
            <a:ext cx="3225698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468880"/>
            <a:ext cx="3225698" cy="54864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1948" y="2743200"/>
            <a:ext cx="27684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日本 / FDEチーム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合わせ込む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顧客現場でLLM/AIエージェントの設定をニーズに応じ調整。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434840"/>
            <a:ext cx="10317175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34440" y="4434840"/>
            <a:ext cx="54864" cy="14173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672583"/>
            <a:ext cx="9677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4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FDEチーム(Forward Deployed Engineer)— 新設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38344"/>
            <a:ext cx="96770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AIエージェントを活用した脆弱性管理(CTEM)やSecure SDLCを日本国内で提供する中核チーム。顧客現場に入り込む実装力を持ち、AI&amp;Data・Risk Advisory・Strategyを横断して両輪の相互送客を仕組み化する。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34440" y="6601968"/>
            <a:ext cx="8253740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09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07 ／ Go To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経営層のクライアントジャーニーとして連動させる。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LCSP(アカウントリーダー)経由で経営層に直接リーチ。活動軸を縦、時系列を横にマッピングする。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423160"/>
            <a:ext cx="10317175" cy="457200"/>
          </a:xfrm>
          <a:prstGeom prst="rect">
            <a:avLst/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活動軸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39241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E8A14"/>
                </a:solidFill>
                <a:latin typeface="Yu Gothic"/>
                <a:ea typeface="Yu Gothic"/>
                <a:cs typeface="Yu Gothic"/>
              </a:rPr>
              <a:t>実施済 / 進行中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6027" y="2423160"/>
            <a:ext cx="39241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C8C"/>
                </a:solidFill>
                <a:latin typeface="Yu Gothic"/>
                <a:ea typeface="Yu Gothic"/>
                <a:cs typeface="Yu Gothic"/>
              </a:rPr>
              <a:t>今後の施策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2880360"/>
            <a:ext cx="1920240" cy="914400"/>
          </a:xfrm>
          <a:prstGeom prst="rect">
            <a:avLst/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880360"/>
            <a:ext cx="1645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ブランド / ソート
リーダーシップ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008376"/>
            <a:ext cx="3878427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008376"/>
            <a:ext cx="45720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008376"/>
            <a:ext cx="36955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WSJ記事 "The New Economics of Cyber Risk"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538728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538728"/>
            <a:ext cx="45720" cy="292608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538728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ブログ "Decision Latency"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904488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904488"/>
            <a:ext cx="45720" cy="292608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904488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FSI POV(進行中)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0307" y="300837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0307" y="3008376"/>
            <a:ext cx="45720" cy="29260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7467" y="300837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業界横断POVの拡充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0307" y="337413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0307" y="3374136"/>
            <a:ext cx="45720" cy="29260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7467" y="337413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カンファレンス登壇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3794760"/>
            <a:ext cx="10317175" cy="10972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4440" y="3794760"/>
            <a:ext cx="1920240" cy="777240"/>
          </a:xfrm>
          <a:prstGeom prst="rect">
            <a:avLst/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3794760"/>
            <a:ext cx="1645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アライアンス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392277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3922776"/>
            <a:ext cx="45720" cy="292608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92277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Anthropic トレーニング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4288536"/>
            <a:ext cx="3878427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4288536"/>
            <a:ext cx="45720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288536"/>
            <a:ext cx="36955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Deloitte–Anthropic GTM開発(進行中)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0307" y="392277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0307" y="3922776"/>
            <a:ext cx="45720" cy="29260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7467" y="392277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主要顧客の技術的負債への共同対応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0307" y="428853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0307" y="4288536"/>
            <a:ext cx="45720" cy="29260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27467" y="428853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AI駆動 Remediation Factory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440" y="4572000"/>
            <a:ext cx="10317175" cy="10972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34440" y="4572000"/>
            <a:ext cx="1920240" cy="777240"/>
          </a:xfrm>
          <a:prstGeom prst="rect">
            <a:avLst/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17320" y="4572000"/>
            <a:ext cx="1645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クライアント /
コミュニティ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1840" y="4700016"/>
            <a:ext cx="3878427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91840" y="4700016"/>
            <a:ext cx="45720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4700016"/>
            <a:ext cx="36955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LCSP all hands(Frontier AI / Cyber)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0307" y="470001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0307" y="4700016"/>
            <a:ext cx="45720" cy="29260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27467" y="470001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CISO Forum の定例開催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0307" y="5065776"/>
            <a:ext cx="3878427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90307" y="5065776"/>
            <a:ext cx="45720" cy="29260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27467" y="5065776"/>
            <a:ext cx="36955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各国固有のコスト / データ主権対応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34440" y="5349240"/>
            <a:ext cx="10317175" cy="10972"/>
          </a:xfrm>
          <a:prstGeom prst="rect">
            <a:avLst/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234440" y="6601968"/>
            <a:ext cx="9285457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10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1187" y="320040"/>
            <a:ext cx="146304" cy="146304"/>
          </a:xfrm>
          <a:prstGeom prst="ellipse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" y="685800"/>
            <a:ext cx="640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spc="22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AI × CYBER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89320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7D2C6"/>
                </a:solidFill>
                <a:latin typeface="Yu Gothic"/>
                <a:ea typeface="Yu Gothic"/>
                <a:cs typeface="Yu Gothic"/>
              </a:rPr>
              <a:t>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C71"/>
                </a:solidFill>
                <a:latin typeface="Yu Gothic"/>
                <a:ea typeface="Yu Gothic"/>
                <a:cs typeface="Yu Gothic"/>
              </a:rPr>
              <a:t>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57784"/>
            <a:ext cx="292608" cy="2743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457200"/>
            <a:ext cx="9951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承認のお願い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68680"/>
            <a:ext cx="103171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両輪の統合 × 総合力 × 三位一体デリバリで、先行者になる。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91640"/>
            <a:ext cx="84600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当社のAI活用の底上げと人材不足の解消も、本サービスの立ち上げを通じて同時に前進する。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514600"/>
            <a:ext cx="322569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514600"/>
            <a:ext cx="54864" cy="19202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2770632"/>
            <a:ext cx="2768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承認事項 01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正式オファリング化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「AI for Cyber, Cyber for AI」を正式サービスとして立ち上げる。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0178" y="2514600"/>
            <a:ext cx="322569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80178" y="2514600"/>
            <a:ext cx="54864" cy="19202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2786" y="2770632"/>
            <a:ext cx="2768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承認事項 02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人材への投資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育成・獲得投資。FDEチームの新設を含む。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5916" y="2514600"/>
            <a:ext cx="322569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B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5916" y="2514600"/>
            <a:ext cx="54864" cy="192024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8524" y="2770632"/>
            <a:ext cx="276849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71827A"/>
                </a:solidFill>
                <a:latin typeface="Yu Gothic"/>
                <a:ea typeface="Yu Gothic"/>
                <a:cs typeface="Yu Gothic"/>
              </a:rPr>
              <a:t>承認事項 03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三位一体デリバリ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6564D"/>
                </a:solidFill>
                <a:latin typeface="Yu Gothic"/>
                <a:ea typeface="Yu Gothic"/>
                <a:cs typeface="Yu Gothic"/>
              </a:rPr>
              <a:t>米国・インド・日本のデリバリモデルを採用する。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892040"/>
            <a:ext cx="41148" cy="5029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910327"/>
            <a:ext cx="74283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01A"/>
                </a:solidFill>
                <a:latin typeface="Yu Gothic"/>
                <a:ea typeface="Yu Gothic"/>
                <a:cs typeface="Yu Gothic"/>
              </a:rPr>
              <a:t>垂直立ち上げの好機は、いま、ここにある。 — ご承認をお願いしたい。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DB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6601968"/>
            <a:ext cx="10317175" cy="411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